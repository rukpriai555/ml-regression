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59" r:id="rId6"/>
    <p:sldId id="262" r:id="rId7"/>
    <p:sldId id="260"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75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6/24/2026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6/24/2026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6/24/2026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6/24/2026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6/24/2026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6/24/2026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6/24/2026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EC4E-E561-4656-BFA1-B46551BC7E3C}"/>
              </a:ext>
            </a:extLst>
          </p:cNvPr>
          <p:cNvSpPr>
            <a:spLocks noGrp="1"/>
          </p:cNvSpPr>
          <p:nvPr>
            <p:ph type="ctrTitle"/>
          </p:nvPr>
        </p:nvSpPr>
        <p:spPr/>
        <p:txBody>
          <a:bodyPr/>
          <a:lstStyle/>
          <a:p>
            <a:r>
              <a:rPr lang="en-IN" dirty="0"/>
              <a:t>Boosting Algorithms</a:t>
            </a:r>
          </a:p>
        </p:txBody>
      </p:sp>
      <p:sp>
        <p:nvSpPr>
          <p:cNvPr id="3" name="Subtitle 2">
            <a:extLst>
              <a:ext uri="{FF2B5EF4-FFF2-40B4-BE49-F238E27FC236}">
                <a16:creationId xmlns:a16="http://schemas.microsoft.com/office/drawing/2014/main" id="{739D9900-0EA1-4575-A334-3F68188917EB}"/>
              </a:ext>
            </a:extLst>
          </p:cNvPr>
          <p:cNvSpPr>
            <a:spLocks noGrp="1"/>
          </p:cNvSpPr>
          <p:nvPr>
            <p:ph type="subTitle" idx="1"/>
          </p:nvPr>
        </p:nvSpPr>
        <p:spPr/>
        <p:txBody>
          <a:bodyPr/>
          <a:lstStyle/>
          <a:p>
            <a:r>
              <a:rPr lang="en-IN" dirty="0"/>
              <a:t>Machine Learning</a:t>
            </a:r>
          </a:p>
        </p:txBody>
      </p:sp>
    </p:spTree>
    <p:extLst>
      <p:ext uri="{BB962C8B-B14F-4D97-AF65-F5344CB8AC3E}">
        <p14:creationId xmlns:p14="http://schemas.microsoft.com/office/powerpoint/2010/main" val="1739350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7E729-CDF5-4CD0-B32E-31E88296091D}"/>
              </a:ext>
            </a:extLst>
          </p:cNvPr>
          <p:cNvSpPr>
            <a:spLocks noGrp="1"/>
          </p:cNvSpPr>
          <p:nvPr>
            <p:ph type="title"/>
          </p:nvPr>
        </p:nvSpPr>
        <p:spPr/>
        <p:txBody>
          <a:bodyPr/>
          <a:lstStyle/>
          <a:p>
            <a:r>
              <a:rPr lang="en-IN" dirty="0"/>
              <a:t>What is Boosting in Machine Learning?</a:t>
            </a:r>
          </a:p>
        </p:txBody>
      </p:sp>
      <p:sp>
        <p:nvSpPr>
          <p:cNvPr id="3" name="Content Placeholder 2">
            <a:extLst>
              <a:ext uri="{FF2B5EF4-FFF2-40B4-BE49-F238E27FC236}">
                <a16:creationId xmlns:a16="http://schemas.microsoft.com/office/drawing/2014/main" id="{B8ED1FDC-60FA-450C-A387-A5D783725C16}"/>
              </a:ext>
            </a:extLst>
          </p:cNvPr>
          <p:cNvSpPr>
            <a:spLocks noGrp="1"/>
          </p:cNvSpPr>
          <p:nvPr>
            <p:ph idx="1"/>
          </p:nvPr>
        </p:nvSpPr>
        <p:spPr>
          <a:xfrm>
            <a:off x="654424" y="2985246"/>
            <a:ext cx="10972800" cy="3034553"/>
          </a:xfrm>
        </p:spPr>
        <p:txBody>
          <a:bodyPr/>
          <a:lstStyle/>
          <a:p>
            <a:pPr marL="0" indent="0">
              <a:buNone/>
            </a:pPr>
            <a:r>
              <a:rPr lang="en-IN" dirty="0"/>
              <a:t>Boosting refers to the process of creating a strong learner from a collection of weak learners. A weak learner is a model that performs only slightly better than random guessing on the training data. By iteratively adjusting the weights of the training instances, boosting algorithms assign higher importance to misclassified instances, forcing subsequent weak learners to focus on these challenging samples. The final prediction is determined by aggregating the predictions of all weak learners, with higher emphasis placed on those that demonstrate superior performance.</a:t>
            </a:r>
          </a:p>
          <a:p>
            <a:pPr marL="0" indent="0">
              <a:buNone/>
            </a:pPr>
            <a:endParaRPr lang="en-IN" dirty="0"/>
          </a:p>
        </p:txBody>
      </p:sp>
    </p:spTree>
    <p:extLst>
      <p:ext uri="{BB962C8B-B14F-4D97-AF65-F5344CB8AC3E}">
        <p14:creationId xmlns:p14="http://schemas.microsoft.com/office/powerpoint/2010/main" val="2444773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6528-BCC2-4200-B580-C213FD6F95B0}"/>
              </a:ext>
            </a:extLst>
          </p:cNvPr>
          <p:cNvSpPr>
            <a:spLocks noGrp="1"/>
          </p:cNvSpPr>
          <p:nvPr>
            <p:ph type="title"/>
          </p:nvPr>
        </p:nvSpPr>
        <p:spPr/>
        <p:txBody>
          <a:bodyPr/>
          <a:lstStyle/>
          <a:p>
            <a:r>
              <a:rPr lang="en-IN" dirty="0"/>
              <a:t>AdaBoost (Adaptive Boosting)</a:t>
            </a:r>
          </a:p>
        </p:txBody>
      </p:sp>
      <p:sp>
        <p:nvSpPr>
          <p:cNvPr id="3" name="Content Placeholder 2">
            <a:extLst>
              <a:ext uri="{FF2B5EF4-FFF2-40B4-BE49-F238E27FC236}">
                <a16:creationId xmlns:a16="http://schemas.microsoft.com/office/drawing/2014/main" id="{8EA34DED-22DD-48F6-AD4A-1A305F79A22E}"/>
              </a:ext>
            </a:extLst>
          </p:cNvPr>
          <p:cNvSpPr>
            <a:spLocks noGrp="1"/>
          </p:cNvSpPr>
          <p:nvPr>
            <p:ph idx="1"/>
          </p:nvPr>
        </p:nvSpPr>
        <p:spPr>
          <a:xfrm>
            <a:off x="717176" y="2603500"/>
            <a:ext cx="10838330" cy="3416300"/>
          </a:xfrm>
        </p:spPr>
        <p:txBody>
          <a:bodyPr/>
          <a:lstStyle/>
          <a:p>
            <a:r>
              <a:rPr lang="en-IN" dirty="0"/>
              <a:t>AdaBoost is the most popular boosting algorithms.</a:t>
            </a:r>
          </a:p>
          <a:p>
            <a:r>
              <a:rPr lang="en-IN" dirty="0"/>
              <a:t>It assigns weights to training instances and adjusts these weights based on the performance of weak learners.</a:t>
            </a:r>
          </a:p>
          <a:p>
            <a:r>
              <a:rPr lang="en-IN" dirty="0"/>
              <a:t>It focuses on misclassified instances, allowing subsequent weak learners to concentrate on these samples.</a:t>
            </a:r>
          </a:p>
          <a:p>
            <a:r>
              <a:rPr lang="en-IN" dirty="0"/>
              <a:t>The final prediction is determined by aggregating the predictions of all weak learners through a weighted majority vote.</a:t>
            </a:r>
          </a:p>
          <a:p>
            <a:endParaRPr lang="en-IN" dirty="0"/>
          </a:p>
        </p:txBody>
      </p:sp>
    </p:spTree>
    <p:extLst>
      <p:ext uri="{BB962C8B-B14F-4D97-AF65-F5344CB8AC3E}">
        <p14:creationId xmlns:p14="http://schemas.microsoft.com/office/powerpoint/2010/main" val="3790659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96DF6-5F8F-49C3-9633-8CB3A6BDA934}"/>
              </a:ext>
            </a:extLst>
          </p:cNvPr>
          <p:cNvSpPr>
            <a:spLocks noGrp="1"/>
          </p:cNvSpPr>
          <p:nvPr>
            <p:ph type="title"/>
          </p:nvPr>
        </p:nvSpPr>
        <p:spPr/>
        <p:txBody>
          <a:bodyPr/>
          <a:lstStyle/>
          <a:p>
            <a:r>
              <a:rPr lang="en-IN" dirty="0"/>
              <a:t>AdaBoost (Pictorial Representation)</a:t>
            </a:r>
          </a:p>
        </p:txBody>
      </p:sp>
      <p:pic>
        <p:nvPicPr>
          <p:cNvPr id="9" name="Content Placeholder 8">
            <a:extLst>
              <a:ext uri="{FF2B5EF4-FFF2-40B4-BE49-F238E27FC236}">
                <a16:creationId xmlns:a16="http://schemas.microsoft.com/office/drawing/2014/main" id="{FD11FDDA-218E-419B-92A7-D4168BD58142}"/>
              </a:ext>
            </a:extLst>
          </p:cNvPr>
          <p:cNvPicPr>
            <a:picLocks noGrp="1" noChangeAspect="1"/>
          </p:cNvPicPr>
          <p:nvPr>
            <p:ph idx="1"/>
          </p:nvPr>
        </p:nvPicPr>
        <p:blipFill>
          <a:blip r:embed="rId2"/>
          <a:stretch>
            <a:fillRect/>
          </a:stretch>
        </p:blipFill>
        <p:spPr>
          <a:xfrm>
            <a:off x="3815421" y="2648324"/>
            <a:ext cx="4724670" cy="3416300"/>
          </a:xfrm>
        </p:spPr>
      </p:pic>
    </p:spTree>
    <p:extLst>
      <p:ext uri="{BB962C8B-B14F-4D97-AF65-F5344CB8AC3E}">
        <p14:creationId xmlns:p14="http://schemas.microsoft.com/office/powerpoint/2010/main" val="161715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0DFF-CCC1-4196-B877-0725FB67B8F5}"/>
              </a:ext>
            </a:extLst>
          </p:cNvPr>
          <p:cNvSpPr>
            <a:spLocks noGrp="1"/>
          </p:cNvSpPr>
          <p:nvPr>
            <p:ph type="title"/>
          </p:nvPr>
        </p:nvSpPr>
        <p:spPr/>
        <p:txBody>
          <a:bodyPr/>
          <a:lstStyle/>
          <a:p>
            <a:r>
              <a:rPr lang="en-IN" dirty="0" err="1"/>
              <a:t>XGBoost</a:t>
            </a:r>
            <a:r>
              <a:rPr lang="en-IN" dirty="0"/>
              <a:t> (Extreme Gradient </a:t>
            </a:r>
            <a:r>
              <a:rPr lang="en-US" dirty="0"/>
              <a:t>Boosting)</a:t>
            </a:r>
            <a:endParaRPr lang="en-IN" dirty="0"/>
          </a:p>
        </p:txBody>
      </p:sp>
      <p:sp>
        <p:nvSpPr>
          <p:cNvPr id="3" name="Content Placeholder 2">
            <a:extLst>
              <a:ext uri="{FF2B5EF4-FFF2-40B4-BE49-F238E27FC236}">
                <a16:creationId xmlns:a16="http://schemas.microsoft.com/office/drawing/2014/main" id="{0FA06EF7-CAA0-4053-81F7-E0A1D3CA4FC0}"/>
              </a:ext>
            </a:extLst>
          </p:cNvPr>
          <p:cNvSpPr>
            <a:spLocks noGrp="1"/>
          </p:cNvSpPr>
          <p:nvPr>
            <p:ph idx="1"/>
          </p:nvPr>
        </p:nvSpPr>
        <p:spPr>
          <a:xfrm>
            <a:off x="770966" y="2603500"/>
            <a:ext cx="10847294" cy="3416300"/>
          </a:xfrm>
        </p:spPr>
        <p:txBody>
          <a:bodyPr/>
          <a:lstStyle/>
          <a:p>
            <a:r>
              <a:rPr lang="en-US" dirty="0" err="1"/>
              <a:t>XGBoost</a:t>
            </a:r>
            <a:r>
              <a:rPr lang="en-US" dirty="0"/>
              <a:t> is an advanced boosting algorithm that combines gradient boosting with regularization techniques.</a:t>
            </a:r>
          </a:p>
          <a:p>
            <a:r>
              <a:rPr lang="en-US" dirty="0"/>
              <a:t>It incorporates both tree-based models and linear models to enhance performance and efficiency.</a:t>
            </a:r>
          </a:p>
          <a:p>
            <a:r>
              <a:rPr lang="en-US" dirty="0"/>
              <a:t>It uses a combination of gradient boosting and regularization strategies to prevent overfitting.</a:t>
            </a:r>
          </a:p>
          <a:p>
            <a:r>
              <a:rPr lang="en-US" dirty="0"/>
              <a:t>It is known for its speed, scalability and ability to handle large-scale datasets effectively.</a:t>
            </a:r>
            <a:endParaRPr lang="en-IN" dirty="0"/>
          </a:p>
        </p:txBody>
      </p:sp>
    </p:spTree>
    <p:extLst>
      <p:ext uri="{BB962C8B-B14F-4D97-AF65-F5344CB8AC3E}">
        <p14:creationId xmlns:p14="http://schemas.microsoft.com/office/powerpoint/2010/main" val="671726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18B0-5DC7-4035-8617-3B2E521ADD20}"/>
              </a:ext>
            </a:extLst>
          </p:cNvPr>
          <p:cNvSpPr>
            <a:spLocks noGrp="1"/>
          </p:cNvSpPr>
          <p:nvPr>
            <p:ph type="title"/>
          </p:nvPr>
        </p:nvSpPr>
        <p:spPr/>
        <p:txBody>
          <a:bodyPr/>
          <a:lstStyle/>
          <a:p>
            <a:r>
              <a:rPr lang="en-IN" dirty="0" err="1"/>
              <a:t>XGBoost</a:t>
            </a:r>
            <a:r>
              <a:rPr lang="en-IN" dirty="0"/>
              <a:t> (Pictorial Representation)</a:t>
            </a:r>
          </a:p>
        </p:txBody>
      </p:sp>
      <p:pic>
        <p:nvPicPr>
          <p:cNvPr id="5" name="Content Placeholder 4">
            <a:extLst>
              <a:ext uri="{FF2B5EF4-FFF2-40B4-BE49-F238E27FC236}">
                <a16:creationId xmlns:a16="http://schemas.microsoft.com/office/drawing/2014/main" id="{F6C4402C-6604-4801-92D3-14911C03C624}"/>
              </a:ext>
            </a:extLst>
          </p:cNvPr>
          <p:cNvPicPr>
            <a:picLocks noGrp="1" noChangeAspect="1"/>
          </p:cNvPicPr>
          <p:nvPr>
            <p:ph idx="1"/>
          </p:nvPr>
        </p:nvPicPr>
        <p:blipFill>
          <a:blip r:embed="rId2"/>
          <a:stretch>
            <a:fillRect/>
          </a:stretch>
        </p:blipFill>
        <p:spPr>
          <a:xfrm>
            <a:off x="3750331" y="2603500"/>
            <a:ext cx="4332750" cy="3416300"/>
          </a:xfrm>
        </p:spPr>
      </p:pic>
    </p:spTree>
    <p:extLst>
      <p:ext uri="{BB962C8B-B14F-4D97-AF65-F5344CB8AC3E}">
        <p14:creationId xmlns:p14="http://schemas.microsoft.com/office/powerpoint/2010/main" val="157541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6176C-C970-4B1F-B3AF-E73094DA667F}"/>
              </a:ext>
            </a:extLst>
          </p:cNvPr>
          <p:cNvSpPr>
            <a:spLocks noGrp="1"/>
          </p:cNvSpPr>
          <p:nvPr>
            <p:ph type="title"/>
          </p:nvPr>
        </p:nvSpPr>
        <p:spPr>
          <a:xfrm>
            <a:off x="510988" y="973668"/>
            <a:ext cx="10748683" cy="706964"/>
          </a:xfrm>
        </p:spPr>
        <p:txBody>
          <a:bodyPr/>
          <a:lstStyle/>
          <a:p>
            <a:r>
              <a:rPr lang="en-US" dirty="0"/>
              <a:t>LG Boosting (Light Gradient Boosting)</a:t>
            </a:r>
            <a:endParaRPr lang="en-IN" dirty="0"/>
          </a:p>
        </p:txBody>
      </p:sp>
      <p:sp>
        <p:nvSpPr>
          <p:cNvPr id="3" name="Content Placeholder 2">
            <a:extLst>
              <a:ext uri="{FF2B5EF4-FFF2-40B4-BE49-F238E27FC236}">
                <a16:creationId xmlns:a16="http://schemas.microsoft.com/office/drawing/2014/main" id="{31FAF77B-2B1D-44F4-8254-26497E445BE3}"/>
              </a:ext>
            </a:extLst>
          </p:cNvPr>
          <p:cNvSpPr>
            <a:spLocks noGrp="1"/>
          </p:cNvSpPr>
          <p:nvPr>
            <p:ph idx="1"/>
          </p:nvPr>
        </p:nvSpPr>
        <p:spPr>
          <a:xfrm>
            <a:off x="742576" y="2603500"/>
            <a:ext cx="10391587" cy="3416300"/>
          </a:xfrm>
        </p:spPr>
        <p:txBody>
          <a:bodyPr/>
          <a:lstStyle/>
          <a:p>
            <a:r>
              <a:rPr lang="en-US" dirty="0" err="1"/>
              <a:t>LightGBM</a:t>
            </a:r>
            <a:r>
              <a:rPr lang="en-US" dirty="0"/>
              <a:t> is a high performance boosting algorithm that uses a leaf-wise approach to construct decision trees.</a:t>
            </a:r>
          </a:p>
          <a:p>
            <a:r>
              <a:rPr lang="en-US" dirty="0"/>
              <a:t>It prioritizes growing the leaf nodes that reduce the loss the most, resulting in faster training times.</a:t>
            </a:r>
          </a:p>
          <a:p>
            <a:r>
              <a:rPr lang="en-US" dirty="0"/>
              <a:t>It is particularly efficient when dealing with large datasets and is widely used in competitions and industry applications.</a:t>
            </a:r>
            <a:endParaRPr lang="en-IN" dirty="0"/>
          </a:p>
        </p:txBody>
      </p:sp>
    </p:spTree>
    <p:extLst>
      <p:ext uri="{BB962C8B-B14F-4D97-AF65-F5344CB8AC3E}">
        <p14:creationId xmlns:p14="http://schemas.microsoft.com/office/powerpoint/2010/main" val="1390730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299D-E90E-40A5-A138-DDC98A7F05B3}"/>
              </a:ext>
            </a:extLst>
          </p:cNvPr>
          <p:cNvSpPr>
            <a:spLocks noGrp="1"/>
          </p:cNvSpPr>
          <p:nvPr>
            <p:ph type="title"/>
          </p:nvPr>
        </p:nvSpPr>
        <p:spPr/>
        <p:txBody>
          <a:bodyPr/>
          <a:lstStyle/>
          <a:p>
            <a:r>
              <a:rPr lang="en-IN" dirty="0"/>
              <a:t>LG Boosting (Pictorial Representation)</a:t>
            </a:r>
          </a:p>
        </p:txBody>
      </p:sp>
      <p:pic>
        <p:nvPicPr>
          <p:cNvPr id="5" name="Content Placeholder 4">
            <a:extLst>
              <a:ext uri="{FF2B5EF4-FFF2-40B4-BE49-F238E27FC236}">
                <a16:creationId xmlns:a16="http://schemas.microsoft.com/office/drawing/2014/main" id="{A1D14317-0BA5-444A-AD0F-41C13CCD976D}"/>
              </a:ext>
            </a:extLst>
          </p:cNvPr>
          <p:cNvPicPr>
            <a:picLocks noGrp="1" noChangeAspect="1"/>
          </p:cNvPicPr>
          <p:nvPr>
            <p:ph idx="1"/>
          </p:nvPr>
        </p:nvPicPr>
        <p:blipFill>
          <a:blip r:embed="rId2"/>
          <a:stretch>
            <a:fillRect/>
          </a:stretch>
        </p:blipFill>
        <p:spPr>
          <a:xfrm>
            <a:off x="2191072" y="3239938"/>
            <a:ext cx="6754168" cy="2143424"/>
          </a:xfrm>
        </p:spPr>
      </p:pic>
    </p:spTree>
    <p:extLst>
      <p:ext uri="{BB962C8B-B14F-4D97-AF65-F5344CB8AC3E}">
        <p14:creationId xmlns:p14="http://schemas.microsoft.com/office/powerpoint/2010/main" val="18475024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{EB0E7E59-2B1C-46C5-9343-D2B64BB87209}TF229edf6a-8a49-49ee-a0a6-5037052947485fb3ca0c-bc27bf41d645</Template>
  <TotalTime>194</TotalTime>
  <Words>310</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 Boardroom</vt:lpstr>
      <vt:lpstr>Boosting Algorithms</vt:lpstr>
      <vt:lpstr>What is Boosting in Machine Learning?</vt:lpstr>
      <vt:lpstr>AdaBoost (Adaptive Boosting)</vt:lpstr>
      <vt:lpstr>AdaBoost (Pictorial Representation)</vt:lpstr>
      <vt:lpstr>XGBoost (Extreme Gradient Boosting)</vt:lpstr>
      <vt:lpstr>XGBoost (Pictorial Representation)</vt:lpstr>
      <vt:lpstr>LG Boosting (Light Gradient Boosting)</vt:lpstr>
      <vt:lpstr>LG Boosting (Pictorial Representation)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Boosting Algorithms</dc:title>
  <dc:creator>Rukmanipriya Alaadu</dc:creator>
  <cp:lastModifiedBy>Rukmanipriya Alaadu</cp:lastModifiedBy>
  <cp:revision>20</cp:revision>
  <dcterms:created xsi:type="dcterms:W3CDTF">2026-06-23T17:36:31Z</dcterms:created>
  <dcterms:modified xsi:type="dcterms:W3CDTF">2026-06-24T09:49:57Z</dcterms:modified>
</cp:coreProperties>
</file>